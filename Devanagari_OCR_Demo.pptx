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photograph any page of Devanagari handwriting and the engine returns the text. Everything on this deck was measured on real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two hard parts the pipeline solves: the shirorekha (segmentation) and 46 similar classes (the CNN).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Stages 2–4 are where the interesting engineering lives; the next slides zoom into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46-way classification is the model's whole world; folder names map to Unicode via DHCD_LABEL_MAP.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make a photographed page resemble the clean DHCD rendering. Highlight divide-by-background shadow removal and the margin-line eraser.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shirorekha is the reason characters can't simply be contour-counted. Boxes go back on the ORIGINAL binary so crops match how DHCD glyphs are framed.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BatchNorm after every conv, LeakyReLU(0.1) to avoid dead neurons on ink-sparse inputs, dropout 0.4 around the classifier head. A CRNN for line-level reading ships in the repo but is unused.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Top-1 99.36% on 13,800 images the model never saw during training. No leakage: Test/ touched exactly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ten predictions at 0.99–1.00 confidence. The verification sheet makes per-glyph correctness checkable without re-running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deliberately hostile pages. The binarizer is chosen per page by measured ink contrast — dark ink gets Otsu, faint pencil gets adaptive.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limits slide: the model reads what it was trained to see. Good capture habits fix most real-world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to run inference live on any page the audience writes.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roadmap; invite someone to hand-write a character and run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365760"/>
            <a:ext cx="47548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0" b="1" dirty="0">
                <a:solidFill>
                  <a:srgbClr val="35306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</a:t>
            </a:r>
            <a:endParaRPr lang="en-US" sz="3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  ·  PYTORCH + OPENCV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412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</a:t>
            </a:r>
            <a:endParaRPr lang="en-US" sz="52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OCR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 page of handwriting — get back Devanagari Unicode text.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46177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B265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170432" y="46177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B2653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83664" y="46177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B2653"/>
          </a:solidFill>
          <a:ln/>
        </p:spPr>
      </p:sp>
      <p:sp>
        <p:nvSpPr>
          <p:cNvPr id="11" name="Text 9"/>
          <p:cNvSpPr/>
          <p:nvPr/>
        </p:nvSpPr>
        <p:spPr>
          <a:xfrm>
            <a:off x="1883664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ग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96896" y="46177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B2653"/>
          </a:solidFill>
          <a:ln/>
        </p:spPr>
      </p:sp>
      <p:sp>
        <p:nvSpPr>
          <p:cNvPr id="13" name="Text 11"/>
          <p:cNvSpPr/>
          <p:nvPr/>
        </p:nvSpPr>
        <p:spPr>
          <a:xfrm>
            <a:off x="2596896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८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10128" y="4617720"/>
            <a:ext cx="777240" cy="566928"/>
          </a:xfrm>
          <a:prstGeom prst="roundRect">
            <a:avLst>
              <a:gd name="adj" fmla="val 14516"/>
            </a:avLst>
          </a:prstGeom>
          <a:solidFill>
            <a:srgbClr val="2B2653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46177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ज्ञ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33672" y="46177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B2653"/>
          </a:solidFill>
          <a:ln/>
        </p:spPr>
      </p:sp>
      <p:sp>
        <p:nvSpPr>
          <p:cNvPr id="17" name="Text 15"/>
          <p:cNvSpPr/>
          <p:nvPr/>
        </p:nvSpPr>
        <p:spPr>
          <a:xfrm>
            <a:off x="4233672" y="4617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DHCD — 92,000 handwritten glyphs, 46 classes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5943600"/>
            <a:ext cx="4782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Apple Silicon (MPS) · CUDA · CPU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handwritten Devanagari is hard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visually similar classes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57200" y="19933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consonants + 10 digits — many pairs differ by a single stroke or dot.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60904"/>
            <a:ext cx="630936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072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shirorekha fuses words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bar connects every character into one ink blob; it must be cut before characters can be counted.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76472"/>
            <a:ext cx="630936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2277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 is a new font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width, slant and loop size change from person to person — and pen to pen.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92040"/>
            <a:ext cx="630936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03834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fight back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57200" y="534009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Shadows, ruled lines, margin bars, paper folds and faint pencil all corrupt the ink.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59752" y="1719072"/>
            <a:ext cx="4636008" cy="3177954"/>
          </a:xfrm>
          <a:prstGeom prst="roundRect">
            <a:avLst>
              <a:gd name="adj" fmla="val 1726"/>
            </a:avLst>
          </a:prstGeom>
          <a:solidFill>
            <a:srgbClr val="FFFFFF"/>
          </a:solidFill>
          <a:ln w="9525">
            <a:solidFill>
              <a:srgbClr val="D9D7E6"/>
            </a:solidFill>
            <a:prstDash val="solid"/>
          </a:ln>
          <a:effectLst>
            <a:outerShdw sx="100000" sy="100000" kx="0" ky="0" algn="bl" rotWithShape="0" blurRad="88900" dist="25400" dir="5400000">
              <a:srgbClr val="1E1A38">
                <a:alpha val="16000"/>
              </a:srgbClr>
            </a:outerShdw>
          </a:effectLst>
        </p:spPr>
      </p:sp>
      <p:pic>
        <p:nvPicPr>
          <p:cNvPr id="17" name="Image 0" descr="my_handwritin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783080"/>
            <a:ext cx="4507992" cy="304993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159752" y="4942746"/>
            <a:ext cx="4636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demo input — a phone photo on shadowed pink paper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photograph, five stages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2F1F8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205740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21792" y="26060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1792" y="3246120"/>
            <a:ext cx="1636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 lifted, page deskewed, contrast normalized, ruled lines erased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404872" y="30632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3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88920" y="187452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2F1F8"/>
          </a:solidFill>
          <a:ln/>
        </p:spPr>
      </p:sp>
      <p:sp>
        <p:nvSpPr>
          <p:cNvPr id="11" name="Text 9"/>
          <p:cNvSpPr/>
          <p:nvPr/>
        </p:nvSpPr>
        <p:spPr>
          <a:xfrm>
            <a:off x="2953512" y="205740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53512" y="26060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lines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53512" y="3246120"/>
            <a:ext cx="1636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projection profiles on the cleaned ink binary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6592" y="30632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3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120640" y="187452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2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205740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285232" y="26060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characters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85232" y="3246120"/>
            <a:ext cx="1636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shirorekha, then vertical projection per 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68312" y="30632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3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52360" y="187452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2F1F8"/>
          </a:solidFill>
          <a:ln/>
        </p:spPr>
      </p:sp>
      <p:sp>
        <p:nvSpPr>
          <p:cNvPr id="21" name="Text 19"/>
          <p:cNvSpPr/>
          <p:nvPr/>
        </p:nvSpPr>
        <p:spPr>
          <a:xfrm>
            <a:off x="7616952" y="205740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616952" y="26060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16952" y="3246120"/>
            <a:ext cx="1636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softmax over 46 classes on each 32×32 crop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00032" y="306324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3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784080" y="1874520"/>
            <a:ext cx="1965960" cy="2743200"/>
          </a:xfrm>
          <a:prstGeom prst="roundRect">
            <a:avLst>
              <a:gd name="adj" fmla="val 3721"/>
            </a:avLst>
          </a:prstGeom>
          <a:solidFill>
            <a:srgbClr val="F2F1F8"/>
          </a:solidFill>
          <a:ln/>
        </p:spPr>
      </p:sp>
      <p:sp>
        <p:nvSpPr>
          <p:cNvPr id="26" name="Text 24"/>
          <p:cNvSpPr/>
          <p:nvPr/>
        </p:nvSpPr>
        <p:spPr>
          <a:xfrm>
            <a:off x="9948672" y="2057400"/>
            <a:ext cx="1636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9948672" y="2606040"/>
            <a:ext cx="1636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948672" y="3246120"/>
            <a:ext cx="16367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row, sort left → right, write text + overlay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16636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does it all — device auto-detected: Apple Silicon GPU (MPS), CUDA, or CPU.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DHCD — 92,000 handwritten glyphs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3192" y="1536192"/>
            <a:ext cx="5888736" cy="4460658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9525">
            <a:solidFill>
              <a:srgbClr val="D9D7E6"/>
            </a:solidFill>
            <a:prstDash val="solid"/>
          </a:ln>
          <a:effectLst>
            <a:outerShdw sx="100000" sy="100000" kx="0" ky="0" algn="bl" rotWithShape="0" blurRad="88900" dist="25400" dir="5400000">
              <a:srgbClr val="1E1A38">
                <a:alpha val="16000"/>
              </a:srgbClr>
            </a:outerShdw>
          </a:effectLst>
        </p:spPr>
      </p:sp>
      <p:pic>
        <p:nvPicPr>
          <p:cNvPr id="6" name="Image 0" descr="presentation_assets/dhcd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760720" cy="43326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" y="6042570"/>
            <a:ext cx="588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per class — white ink on black, 32×32 px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75120" y="15544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92,000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67512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glyph images from 2,000 writers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75120" y="2971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classes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675120" y="32735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C8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36 consonants (क … ज्ञ) + 10 digits (० … ९)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75120" y="3886200"/>
            <a:ext cx="502920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75120" y="403250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78,200 / 13,800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6675120" y="433425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held-out test — the Test folder is used once, at the very end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75120" y="4946904"/>
            <a:ext cx="502920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50932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32×32 px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675120" y="5394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crop size the CNN consumes; class order baked into the checkpoint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UCI Machine Learning Repository — Devanagari Handwritten Character Dataset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PREPROCESSING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photo look like training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3192" y="1536192"/>
            <a:ext cx="5980176" cy="4367081"/>
          </a:xfrm>
          <a:prstGeom prst="roundRect">
            <a:avLst>
              <a:gd name="adj" fmla="val 1256"/>
            </a:avLst>
          </a:prstGeom>
          <a:solidFill>
            <a:srgbClr val="FFFFFF"/>
          </a:solidFill>
          <a:ln w="9525">
            <a:solidFill>
              <a:srgbClr val="D9D7E6"/>
            </a:solidFill>
            <a:prstDash val="solid"/>
          </a:ln>
          <a:effectLst>
            <a:outerShdw sx="100000" sy="100000" kx="0" ky="0" algn="bl" rotWithShape="0" blurRad="88900" dist="25400" dir="5400000">
              <a:srgbClr val="1E1A38">
                <a:alpha val="16000"/>
              </a:srgbClr>
            </a:outerShdw>
          </a:effectLst>
        </p:spPr>
      </p:sp>
      <p:pic>
        <p:nvPicPr>
          <p:cNvPr id="6" name="Image 0" descr="presentation_assets/before_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5852160" cy="42390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" y="5948993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photo  ·  after the enhancement chain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75120" y="16916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2320" y="1691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removal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0" y="199339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pixel divided by the estimated paper brightness — shadows lift, ink stays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2587752"/>
            <a:ext cx="502920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27157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32320" y="2715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Deskew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132320" y="3017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tilt rotated flat via minAreaRect over all ink pixels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75120" y="3611880"/>
            <a:ext cx="502920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3739896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132320" y="37398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+ bilateral filter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132320" y="40416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faint strokes up, paper texture down, stroke edges stay sharp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75120" y="4636008"/>
            <a:ext cx="502920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0" y="4764024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132320" y="47640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Ruled &amp; margin lines erased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132320" y="506577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 opening for rules; column statistics for margin bars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675120" y="5660136"/>
            <a:ext cx="502920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675120" y="5788152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132320" y="57881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Text-scale guard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132320" y="60899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upscale until the median text row ≈ 52 px — thin strokes vanish below that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&amp; 3 · SEGMENTATION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lines, then cut characters apart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3192" y="1508760"/>
            <a:ext cx="7534656" cy="4427551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9525">
            <a:solidFill>
              <a:srgbClr val="D9D7E6"/>
            </a:solidFill>
            <a:prstDash val="solid"/>
          </a:ln>
          <a:effectLst>
            <a:outerShdw sx="100000" sy="100000" kx="0" ky="0" algn="bl" rotWithShape="0" blurRad="88900" dist="25400" dir="5400000">
              <a:srgbClr val="1E1A38">
                <a:alpha val="16000"/>
              </a:srgbClr>
            </a:outerShdw>
          </a:effectLst>
        </p:spPr>
      </p:sp>
      <p:pic>
        <p:nvPicPr>
          <p:cNvPr id="6" name="Image 0" descr="presentation_assets/segmentation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2768"/>
            <a:ext cx="7406640" cy="4299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" y="5982031"/>
            <a:ext cx="7534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crop with found boxes  ·  ink binary  ·  shirorekha stripped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83880" y="16276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67928" y="1627632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detection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67928" y="1956816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ink found by horizontal projection profiles; dust and crease valleys drop out.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183880" y="31912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567928" y="3191256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Binarize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67928" y="3520440"/>
            <a:ext cx="3182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for pen ink — fold shadows stay out; adaptive thresholding for faint pencil.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183880" y="4754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567928" y="475488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characters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67928" y="5084064"/>
            <a:ext cx="31821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horizontal kernel strips only the shirorekha. Column gaps appear → vertical projection finds each glyph; final boxes are re-measured on the original binary so the headline stays in the crop, matching DHCD framing.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· CLASSIFIER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CNN for 32×32 glyphs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64592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3D37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1 × 32 × 32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663440" y="1645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glyph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231136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2F1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311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32 → BN → LeakyReLU  (×2) → MaxPool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22311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16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816352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2F1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163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64 → BN → LeakyReLU  (×2) → MaxPool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8163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8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401568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2F1F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01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128 → BN → LeakyReLU  (×2) → MaxPool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986784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2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867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2048 → Dropout 0.4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572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2F1F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256 → BN → LeakyReLU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5157216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3D377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1572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46 → softmax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5157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 per glyph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16459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RECIPE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2057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492240" y="23317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1e-3, weight decay 1e-4 — ReduceLROnPlateau halves the lr on plateaus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92240" y="2862072"/>
            <a:ext cx="521208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900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492240" y="326440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±10° rotation, ±8% translation, 0.92–1.08 scale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92240" y="3794760"/>
            <a:ext cx="521208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92277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90/10 split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492240" y="41970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keeps every class's ratio; Test folder never seen in training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92240" y="4727448"/>
            <a:ext cx="521208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85546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Best-checkpoint saving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6492240" y="512978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validation accuracy each epoch wins — 99.53% at epoch 13/15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92240" y="5660136"/>
            <a:ext cx="521208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57881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minutes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492240" y="60624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epochs, batch 128, on Apple Silicon MPS — no data-center hardware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accuracy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2F1F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0116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99.36%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283464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accuracy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8368" y="318211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13,800 DHCD test images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28416" y="173736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2F1F8"/>
          </a:solidFill>
          <a:ln/>
        </p:spPr>
      </p:sp>
      <p:sp>
        <p:nvSpPr>
          <p:cNvPr id="10" name="Text 8"/>
          <p:cNvSpPr/>
          <p:nvPr/>
        </p:nvSpPr>
        <p:spPr>
          <a:xfrm>
            <a:off x="3529584" y="20116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3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99.95%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29584" y="283464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9584" y="318211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class in the top 3 guesses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173736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2F1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116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3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283464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18211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13 of 15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70848" y="1737360"/>
            <a:ext cx="2670048" cy="2148840"/>
          </a:xfrm>
          <a:prstGeom prst="roundRect">
            <a:avLst>
              <a:gd name="adj" fmla="val 3404"/>
            </a:avLst>
          </a:prstGeom>
          <a:solidFill>
            <a:srgbClr val="F2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9272016" y="20116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3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46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72016" y="283464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at 100%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72016" y="3182112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on a quarter of all classes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Hardest class — ढ (dhaa): still 97.0% correct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57200" y="47183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confusion sits in visually similar pairs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5166360"/>
            <a:ext cx="11274552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3492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retrain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457200" y="566928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 minutes end-to-end on Apple Silicon MPS — evaluate_accuracy.py reports the held-out split once, at the end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evaluate_accuracy.py — single final pass on the DHCD Test split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phone photo → ten glyphs, one pass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3192" y="1508760"/>
            <a:ext cx="3642015" cy="2505456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9525">
            <a:solidFill>
              <a:srgbClr val="D9D7E6"/>
            </a:solidFill>
            <a:prstDash val="solid"/>
          </a:ln>
          <a:effectLst>
            <a:outerShdw sx="100000" sy="100000" kx="0" ky="0" algn="bl" rotWithShape="0" blurRad="88900" dist="25400" dir="5400000">
              <a:srgbClr val="1E1A38">
                <a:alpha val="16000"/>
              </a:srgbClr>
            </a:outerShdw>
          </a:effectLst>
        </p:spPr>
      </p:sp>
      <p:pic>
        <p:nvPicPr>
          <p:cNvPr id="6" name="Image 0" descr="my_handwriting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2768"/>
            <a:ext cx="3513999" cy="2377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" y="4041648"/>
            <a:ext cx="364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— shadowed pink paper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291239" y="1572768"/>
            <a:ext cx="2880360" cy="2377440"/>
          </a:xfrm>
          <a:prstGeom prst="roundRect">
            <a:avLst>
              <a:gd name="adj" fmla="val 3077"/>
            </a:avLst>
          </a:prstGeom>
          <a:solidFill>
            <a:srgbClr val="F2F1F8"/>
          </a:solidFill>
          <a:ln/>
        </p:spPr>
      </p:sp>
      <p:sp>
        <p:nvSpPr>
          <p:cNvPr id="9" name="Text 6"/>
          <p:cNvSpPr/>
          <p:nvPr/>
        </p:nvSpPr>
        <p:spPr>
          <a:xfrm>
            <a:off x="4492407" y="1737360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TEXT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492407" y="2011680"/>
            <a:ext cx="2478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23213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कछफ</a:t>
            </a:r>
            <a:endParaRPr lang="en-US" sz="21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23213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खबण</a:t>
            </a:r>
            <a:endParaRPr lang="en-US" sz="21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23213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गवज</a:t>
            </a:r>
            <a:endParaRPr lang="en-US" sz="21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100" dirty="0">
                <a:solidFill>
                  <a:srgbClr val="23213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ज्ञ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492407" y="358444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 glyphs · confidence 0.99–1.00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27631" y="1508760"/>
            <a:ext cx="1911096" cy="2505456"/>
          </a:xfrm>
          <a:prstGeom prst="roundRect">
            <a:avLst>
              <a:gd name="adj" fmla="val 2871"/>
            </a:avLst>
          </a:prstGeom>
          <a:solidFill>
            <a:srgbClr val="FFFFFF"/>
          </a:solidFill>
          <a:ln w="9525">
            <a:solidFill>
              <a:srgbClr val="D9D7E6"/>
            </a:solidFill>
            <a:prstDash val="solid"/>
          </a:ln>
          <a:effectLst>
            <a:outerShdw sx="100000" sy="100000" kx="0" ky="0" algn="bl" rotWithShape="0" blurRad="88900" dist="25400" dir="5400000">
              <a:srgbClr val="1E1A38">
                <a:alpha val="16000"/>
              </a:srgbClr>
            </a:outerShdw>
          </a:effectLst>
        </p:spPr>
      </p:sp>
      <p:pic>
        <p:nvPicPr>
          <p:cNvPr id="13" name="Image 1" descr="ocr_output_vis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1639" y="1572768"/>
            <a:ext cx="1783080" cy="23774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27631" y="40416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boxes by confidence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9686199" y="1627632"/>
            <a:ext cx="204555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CODE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9686199" y="2048256"/>
            <a:ext cx="146304" cy="146304"/>
          </a:xfrm>
          <a:prstGeom prst="ellipse">
            <a:avLst/>
          </a:prstGeom>
          <a:solidFill>
            <a:srgbClr val="2E9E4F"/>
          </a:solidFill>
          <a:ln/>
        </p:spPr>
      </p:sp>
      <p:sp>
        <p:nvSpPr>
          <p:cNvPr id="17" name="Text 13"/>
          <p:cNvSpPr/>
          <p:nvPr/>
        </p:nvSpPr>
        <p:spPr>
          <a:xfrm>
            <a:off x="9942231" y="1993392"/>
            <a:ext cx="17895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0.8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9686199" y="2432304"/>
            <a:ext cx="146304" cy="146304"/>
          </a:xfrm>
          <a:prstGeom prst="ellipse">
            <a:avLst/>
          </a:prstGeom>
          <a:solidFill>
            <a:srgbClr val="1E9BB5"/>
          </a:solidFill>
          <a:ln/>
        </p:spPr>
      </p:sp>
      <p:sp>
        <p:nvSpPr>
          <p:cNvPr id="19" name="Text 15"/>
          <p:cNvSpPr/>
          <p:nvPr/>
        </p:nvSpPr>
        <p:spPr>
          <a:xfrm>
            <a:off x="9942231" y="2377440"/>
            <a:ext cx="17895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0.8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9686199" y="2816352"/>
            <a:ext cx="146304" cy="146304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21" name="Text 17"/>
          <p:cNvSpPr/>
          <p:nvPr/>
        </p:nvSpPr>
        <p:spPr>
          <a:xfrm>
            <a:off x="9942231" y="2761488"/>
            <a:ext cx="178952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0.5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9686199" y="3246120"/>
            <a:ext cx="20455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ten landed green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93192" y="4370832"/>
            <a:ext cx="7168896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9D7E6"/>
            </a:solidFill>
            <a:prstDash val="solid"/>
          </a:ln>
          <a:effectLst>
            <a:outerShdw sx="100000" sy="100000" kx="0" ky="0" algn="bl" rotWithShape="0" blurRad="88900" dist="25400" dir="5400000">
              <a:srgbClr val="1E1A38">
                <a:alpha val="16000"/>
              </a:srgbClr>
            </a:outerShdw>
          </a:effectLst>
        </p:spPr>
      </p:sp>
      <p:pic>
        <p:nvPicPr>
          <p:cNvPr id="24" name="Image 2" descr="ocr_glyph_verific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34840"/>
            <a:ext cx="7040880" cy="140817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77240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sheet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7772400" y="4828032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segmented crop (top row) next to real DHCD samples of its predicted class — per-glyph checking of free handwriting at a glance.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tests — when the page is not friendly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3192" y="1581912"/>
            <a:ext cx="1901684" cy="3282696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9D7E6"/>
            </a:solidFill>
            <a:prstDash val="solid"/>
          </a:ln>
          <a:effectLst>
            <a:outerShdw sx="100000" sy="100000" kx="0" ky="0" algn="bl" rotWithShape="0" blurRad="88900" dist="25400" dir="5400000">
              <a:srgbClr val="1E1A38">
                <a:alpha val="16000"/>
              </a:srgbClr>
            </a:outerShdw>
          </a:effectLst>
        </p:spPr>
      </p:sp>
      <p:pic>
        <p:nvPicPr>
          <p:cNvPr id="6" name="Image 0" descr="sandesh_ocr_vis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1773668" cy="3154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3192" y="4892040"/>
            <a:ext cx="1901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faint pencil, ruled paper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05188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Faint pencil on ruled paper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505188" y="210312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margin bar erased by column statistics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binarization follows faint strokes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Text-scale upscale before thresholding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505188" y="3794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rows detected; per-character accuracy tracks stroke contrast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91072" y="1581912"/>
            <a:ext cx="1901684" cy="3282696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9D7E6"/>
            </a:solidFill>
            <a:prstDash val="solid"/>
          </a:ln>
          <a:effectLst>
            <a:outerShdw sx="100000" sy="100000" kx="0" ky="0" algn="bl" rotWithShape="0" blurRad="88900" dist="25400" dir="5400000">
              <a:srgbClr val="1E1A38">
                <a:alpha val="16000"/>
              </a:srgbClr>
            </a:outerShdw>
          </a:effectLst>
        </p:spPr>
      </p:sp>
      <p:pic>
        <p:nvPicPr>
          <p:cNvPr id="12" name="Image 1" descr="crumpled_ocr_vis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45920"/>
            <a:ext cx="1773668" cy="3154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91072" y="4892040"/>
            <a:ext cx="1901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pen, crumpled paper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403068" y="1691640"/>
            <a:ext cx="33286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on crumpled paper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8403068" y="2103120"/>
            <a:ext cx="33286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keeps fold shadows out of the ink mask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Dust components removed before profiling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profiles split at crease valleys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8403068" y="3794760"/>
            <a:ext cx="33286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D3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All glyphs located despite folds and creases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57200" y="53492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stays robust; recognition accuracy follows ink contrast — pen beats pencil.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good capture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70048" cy="2651760"/>
          </a:xfrm>
          <a:prstGeom prst="roundRect">
            <a:avLst>
              <a:gd name="adj" fmla="val 2759"/>
            </a:avLst>
          </a:prstGeom>
          <a:solidFill>
            <a:srgbClr val="F2F1F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53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१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58368" y="27432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beats pencil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8368" y="333756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Stroke contrast must clear the paper's own texture level.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28416" y="1828800"/>
            <a:ext cx="2670048" cy="2651760"/>
          </a:xfrm>
          <a:prstGeom prst="roundRect">
            <a:avLst>
              <a:gd name="adj" fmla="val 2759"/>
            </a:avLst>
          </a:prstGeom>
          <a:solidFill>
            <a:srgbClr val="F2F1F8"/>
          </a:solidFill>
          <a:ln/>
        </p:spPr>
      </p:sp>
      <p:sp>
        <p:nvSpPr>
          <p:cNvPr id="10" name="Text 8"/>
          <p:cNvSpPr/>
          <p:nvPr/>
        </p:nvSpPr>
        <p:spPr>
          <a:xfrm>
            <a:off x="3529584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53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२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9584" y="27432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frame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29584" y="333756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Shoot close and straight-on so rows stay large and horizontal.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9632" y="1828800"/>
            <a:ext cx="2670048" cy="2651760"/>
          </a:xfrm>
          <a:prstGeom prst="roundRect">
            <a:avLst>
              <a:gd name="adj" fmla="val 2759"/>
            </a:avLst>
          </a:prstGeom>
          <a:solidFill>
            <a:srgbClr val="F2F1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53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३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light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00800" y="333756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shadows and paper folds crossing the writing area.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70848" y="1828800"/>
            <a:ext cx="2670048" cy="2651760"/>
          </a:xfrm>
          <a:prstGeom prst="roundRect">
            <a:avLst>
              <a:gd name="adj" fmla="val 2759"/>
            </a:avLst>
          </a:prstGeom>
          <a:solidFill>
            <a:srgbClr val="F2F1F8"/>
          </a:solidFill>
          <a:ln/>
        </p:spPr>
      </p:sp>
      <p:sp>
        <p:nvSpPr>
          <p:cNvPr id="18" name="Text 16"/>
          <p:cNvSpPr/>
          <p:nvPr/>
        </p:nvSpPr>
        <p:spPr>
          <a:xfrm>
            <a:off x="9272016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53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४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272016" y="2743200"/>
            <a:ext cx="22677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clear gaps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272016" y="333756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characters, or words with normal spacing.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5029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trained on dark-ink felt-pen samples (DHCD) — capture quality dominates page-level accuracy.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commands, start to finish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320272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675120" cy="1143000"/>
          </a:xfrm>
          <a:prstGeom prst="roundRect">
            <a:avLst>
              <a:gd name="adj" fmla="val 5600"/>
            </a:avLst>
          </a:prstGeom>
          <a:solidFill>
            <a:srgbClr val="1E1A3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562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devanagari_ocr.py --mode train --epochs 15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DHCD · saves devanagari_cnn.pth (best validation epoch)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6675120" cy="1143000"/>
          </a:xfrm>
          <a:prstGeom prst="roundRect">
            <a:avLst>
              <a:gd name="adj" fmla="val 5600"/>
            </a:avLst>
          </a:prstGeom>
          <a:solidFill>
            <a:srgbClr val="1E1A3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1821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evaluate_accuracy.py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611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 / Top-3 and per-class report on the held-out Test split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343400"/>
            <a:ext cx="6675120" cy="1143000"/>
          </a:xfrm>
          <a:prstGeom prst="roundRect">
            <a:avLst>
              <a:gd name="adj" fmla="val 5600"/>
            </a:avLst>
          </a:prstGeom>
          <a:solidFill>
            <a:srgbClr val="1E1A3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5079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devanagari_ocr.py --mode infer --image my_handwriting.jpeg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9377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extracted_devanagari.txt + ocr_output_visual.png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8952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training loop, MPS / CUDA / CPU auto-device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2907792"/>
            <a:ext cx="411480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89520" y="3310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preprocessing, binarization, segmentation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0" y="3840480"/>
            <a:ext cx="411480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968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Pillow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89520" y="424281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profiles, dataset loading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4773168"/>
            <a:ext cx="4114800" cy="0"/>
          </a:xfrm>
          <a:prstGeom prst="line">
            <a:avLst/>
          </a:prstGeom>
          <a:noFill/>
          <a:ln w="9525">
            <a:solidFill>
              <a:srgbClr val="D9D7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4901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89520" y="517550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 text · annotated photo · glyph verification sheet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5943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path everywhere — the device is detected at startup, never configured.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548640"/>
            <a:ext cx="448056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b="1" dirty="0">
                <a:solidFill>
                  <a:srgbClr val="35306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4400" b="1" dirty="0">
                <a:solidFill>
                  <a:srgbClr val="E8853D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धन्यवाद।</a:t>
            </a:r>
            <a:endParaRPr lang="en-US" sz="44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794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2B2653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434340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Whole-line CRNN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58368" y="4663440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implemented in the repo — reads a line without segmenting 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41605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2B2653"/>
          </a:solidFill>
          <a:ln/>
        </p:spPr>
      </p:sp>
      <p:sp>
        <p:nvSpPr>
          <p:cNvPr id="9" name="Text 7"/>
          <p:cNvSpPr/>
          <p:nvPr/>
        </p:nvSpPr>
        <p:spPr>
          <a:xfrm>
            <a:off x="4453128" y="434340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&amp; conjuncts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453128" y="4663440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matras, half-letters and compound glyphs like क्ष त्र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41605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2B2653"/>
          </a:solidFill>
          <a:ln/>
        </p:spPr>
      </p:sp>
      <p:sp>
        <p:nvSpPr>
          <p:cNvPr id="12" name="Text 10"/>
          <p:cNvSpPr/>
          <p:nvPr/>
        </p:nvSpPr>
        <p:spPr>
          <a:xfrm>
            <a:off x="8247888" y="4343400"/>
            <a:ext cx="3163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notebook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47888" y="4663440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engine as an app or API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Devanagari Handwritten OCR · PyTorch + OpenCV · DHCD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Devanagari Handwritten OCR — Project Demo</dc:title>
  <dc:subject>PptxGenJS Presentation</dc:subject>
  <dc:creator>Project-I Devnagari</dc:creator>
  <cp:lastModifiedBy>Project-I Devnagari</cp:lastModifiedBy>
  <cp:revision>1</cp:revision>
  <dcterms:created xsi:type="dcterms:W3CDTF">2026-10-05T06:14:22Z</dcterms:created>
  <dcterms:modified xsi:type="dcterms:W3CDTF">2026-10-05T06:14:22Z</dcterms:modified>
</cp:coreProperties>
</file>